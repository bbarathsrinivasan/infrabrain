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(Gemini 3.5 Flash)</c:v>
                </c:pt>
              </c:strCache>
            </c:strRef>
          </c:tx>
          <c:spPr>
            <a:solidFill>
              <a:srgbClr val="38BDF8"/>
            </a:solidFill>
            <a:ln w="25400" cap="flat">
              <a:solidFill>
                <a:srgbClr val="38BDF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8BDF8"/>
              </a:solidFill>
              <a:ln w="9525" cap="flat">
                <a:solidFill>
                  <a:srgbClr val="38BDF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Gen 0</c:v>
                  </c:pt>
                  <c:pt idx="1">
                    <c:v>Gen 1</c:v>
                  </c:pt>
                  <c:pt idx="2">
                    <c:v>Gen 2</c:v>
                  </c:pt>
                  <c:pt idx="3">
                    <c:v>Gen 3</c:v>
                  </c:pt>
                  <c:pt idx="4">
                    <c:v>Gen 4</c:v>
                  </c:pt>
                  <c:pt idx="5">
                    <c:v>Gen 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0.628</c:v>
                </c:pt>
                <c:pt idx="1">
                  <c:v>0.892</c:v>
                </c:pt>
                <c:pt idx="2">
                  <c:v>0.834</c:v>
                </c:pt>
                <c:pt idx="3">
                  <c:v>0.782</c:v>
                </c:pt>
                <c:pt idx="4">
                  <c:v>0.836</c:v>
                </c:pt>
                <c:pt idx="5">
                  <c:v>0.679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Holdout</c:v>
                </c:pt>
              </c:strCache>
            </c:strRef>
          </c:tx>
          <c:spPr>
            <a:solidFill>
              <a:srgbClr val="818CF8"/>
            </a:solidFill>
            <a:ln w="25400" cap="flat">
              <a:solidFill>
                <a:srgbClr val="818CF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18CF8"/>
              </a:solidFill>
              <a:ln w="9525" cap="flat">
                <a:solidFill>
                  <a:srgbClr val="818CF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Gen 0</c:v>
                  </c:pt>
                  <c:pt idx="1">
                    <c:v>Gen 1</c:v>
                  </c:pt>
                  <c:pt idx="2">
                    <c:v>Gen 2</c:v>
                  </c:pt>
                  <c:pt idx="3">
                    <c:v>Gen 3</c:v>
                  </c:pt>
                  <c:pt idx="4">
                    <c:v>Gen 4</c:v>
                  </c:pt>
                  <c:pt idx="5">
                    <c:v>Gen 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0.674</c:v>
                </c:pt>
                <c:pt idx="1">
                  <c:v>0.826</c:v>
                </c:pt>
                <c:pt idx="2">
                  <c:v>0.842</c:v>
                </c:pt>
                <c:pt idx="3">
                  <c:v>0.943</c:v>
                </c:pt>
                <c:pt idx="4">
                  <c:v>0.784</c:v>
                </c:pt>
                <c:pt idx="5">
                  <c:v>0.677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12700" cap="flat">
              <a:solidFill>
                <a:srgbClr val="1A26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4A3B8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36576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589520" y="64008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8138160" y="45720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412480" y="91440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863840" y="109728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8595360" y="27432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858000" y="82296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128016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0" y="137160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0" y="731520"/>
            <a:ext cx="64008" cy="64008"/>
          </a:xfrm>
          <a:prstGeom prst="ellipse">
            <a:avLst/>
          </a:prstGeom>
          <a:solidFill>
            <a:srgbClr val="38BDF8">
              <a:alpha val="4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164324" y="397764"/>
            <a:ext cx="1005840" cy="9144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1524" y="672084"/>
            <a:ext cx="274320" cy="45720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0164" y="489204"/>
            <a:ext cx="457200" cy="-18288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44484" y="946404"/>
            <a:ext cx="-548640" cy="18288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95844" y="1129284"/>
            <a:ext cx="365760" cy="27432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90004" y="854964"/>
            <a:ext cx="457200" cy="45720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47204" y="1312164"/>
            <a:ext cx="914400" cy="91440"/>
          </a:xfrm>
          <a:prstGeom prst="line">
            <a:avLst/>
          </a:prstGeom>
          <a:noFill/>
          <a:ln w="6350">
            <a:solidFill>
              <a:srgbClr val="38BDF8">
                <a:alpha val="2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005840"/>
            <a:ext cx="54864" cy="21945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InfraBrain</a:t>
            </a:r>
            <a:endParaRPr lang="en-US" sz="6400" dirty="0"/>
          </a:p>
        </p:txBody>
      </p:sp>
      <p:sp>
        <p:nvSpPr>
          <p:cNvPr id="22" name="Text 20"/>
          <p:cNvSpPr/>
          <p:nvPr/>
        </p:nvSpPr>
        <p:spPr>
          <a:xfrm>
            <a:off x="59436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Self-Improving Agent That Learns from Every Override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94360" y="2468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every operator override · Rewrites its own code · Validated by real Gemini API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11480" y="4297680"/>
            <a:ext cx="8321040" cy="1371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CMU Hackathon · July 2026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Gemini 3.5 Flash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your AI diagnostic agent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it wrong?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fails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at 14%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377440" y="3840480"/>
            <a:ext cx="30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822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822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7736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util drops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736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thermal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 fires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11040" y="3840480"/>
            <a:ext cx="30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8158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158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072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diagnosis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072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picks: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throttle_job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44640" y="3840480"/>
            <a:ext cx="30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49440" y="3291840"/>
            <a:ext cx="1828800" cy="1463040"/>
          </a:xfrm>
          <a:prstGeom prst="rect">
            <a:avLst/>
          </a:prstGeom>
          <a:solidFill>
            <a:srgbClr val="131D30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37673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override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40880" y="407822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corrects: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ramp_fans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11480" y="48006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6.0 min MTTR instead of 4.7 min  ·  Every override is wasted learning signal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 ·  SCALE OF 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rare edge case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12984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468880" cy="126187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1508760"/>
            <a:ext cx="2468880" cy="4572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1600200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$14,056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21208" y="207568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Minute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21208" y="228600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cost of unplanned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downtime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21208" y="2587752"/>
            <a:ext cx="2249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 Research, 2024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468880" cy="126187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560" y="1508760"/>
            <a:ext cx="246888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3447288" y="1600200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47288" y="207568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Failures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47288" y="228600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wrong tool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action in production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47288" y="2587752"/>
            <a:ext cx="2249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Trantornic, 2024-25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63640" y="1508760"/>
            <a:ext cx="2468880" cy="126187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9" name="Shape 17"/>
          <p:cNvSpPr/>
          <p:nvPr/>
        </p:nvSpPr>
        <p:spPr>
          <a:xfrm>
            <a:off x="6263640" y="1508760"/>
            <a:ext cx="2468880" cy="4572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6373368" y="1600200"/>
            <a:ext cx="2249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373368" y="207568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73368" y="228600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 when AI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is correct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73368" y="2587752"/>
            <a:ext cx="2249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Rootly, 2025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11480" y="29077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INFRABRAIN  (120 live Gemini 3.5 Flash calls)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108960"/>
            <a:ext cx="2468880" cy="1005840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26" name="Text 24"/>
          <p:cNvSpPr/>
          <p:nvPr/>
        </p:nvSpPr>
        <p:spPr>
          <a:xfrm>
            <a:off x="521208" y="316382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521208" y="356616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 Misdiagnosed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1208" y="378561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gen-0 baseline, no KG context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337560" y="3108960"/>
            <a:ext cx="2468880" cy="1005840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30" name="Text 28"/>
          <p:cNvSpPr/>
          <p:nvPr/>
        </p:nvSpPr>
        <p:spPr>
          <a:xfrm>
            <a:off x="3447288" y="316382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min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3447288" y="356616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Per Fault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447288" y="378561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 min vs 4.7 min with correct fix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263640" y="3108960"/>
            <a:ext cx="2468880" cy="1005840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34" name="Text 32"/>
          <p:cNvSpPr/>
          <p:nvPr/>
        </p:nvSpPr>
        <p:spPr>
          <a:xfrm>
            <a:off x="6373368" y="316382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373368" y="3566160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Retained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73368" y="378561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agents forget every override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EMA Research 2024 · Trantornic 2024-25 · Rootly 2025 · infrabrain-eval (github.com/bbarathsrinivasan/InfraBrain)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self-improving loops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223760" y="777240"/>
            <a:ext cx="1554480" cy="34747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0" y="7955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223760" y="11247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teacher 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0" y="2651760"/>
            <a:ext cx="1554480" cy="34747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Text 7"/>
          <p:cNvSpPr/>
          <p:nvPr/>
        </p:nvSpPr>
        <p:spPr>
          <a:xfrm>
            <a:off x="7223760" y="267004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AGENT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student 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298448"/>
            <a:ext cx="402336" cy="40233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298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6968" y="13441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" y="13441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Retrieval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6968" y="1572768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alert time, the task agent retrieves the most similar past corrections from the Knowledge Graph. Corrections are ranked first — the agent sees what went wrong before and what fixed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267712"/>
            <a:ext cx="6492240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7" name="Shape 15"/>
          <p:cNvSpPr/>
          <p:nvPr/>
        </p:nvSpPr>
        <p:spPr>
          <a:xfrm>
            <a:off x="411480" y="2322576"/>
            <a:ext cx="402336" cy="402336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3225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23682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6968" y="236829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Corrections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6968" y="2596896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operator override is written to the KG as a rejected→accepted pair. The next similar fault automatically benefits — no retraining, no prompt engineering, just retrieval.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11480" y="3291840"/>
            <a:ext cx="6492240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Shape 21"/>
          <p:cNvSpPr/>
          <p:nvPr/>
        </p:nvSpPr>
        <p:spPr>
          <a:xfrm>
            <a:off x="411480" y="3346704"/>
            <a:ext cx="402336" cy="402336"/>
          </a:xfrm>
          <a:prstGeom prst="ellipse">
            <a:avLst/>
          </a:prstGeom>
          <a:solidFill>
            <a:srgbClr val="818CF8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86968" y="339242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6968" y="339242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 Code Rewrite  +  Eval Gate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6968" y="3621024"/>
            <a:ext cx="6172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meta-agent analyzes KG correction patterns, rewrites the task agent's diagnostic code, and submits to infrabrain-eval — 120 live Gemini API calls that block regressions before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THE PAPER BEHIND IT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Darwin Gödel Machine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11480" y="1261872"/>
            <a:ext cx="2103120" cy="274320"/>
          </a:xfrm>
          <a:prstGeom prst="rect">
            <a:avLst/>
          </a:prstGeom>
          <a:solidFill>
            <a:srgbClr val="818CF8">
              <a:alpha val="8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61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· 2503.19461  ·  2025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6002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Sakana AI  ·  Google DeepMind  ·  University of British Columbia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920240"/>
            <a:ext cx="5029200" cy="13716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2011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2249424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iteratively rewrites its own code to improve performance — validated by an empirical eval gate before each new version is deployed. The meta-agent proposes a diff; the eval gate either approves or blocks it.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9992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INFRABRAIN MAPS TO IT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11480" y="3246120"/>
            <a:ext cx="1645920" cy="274320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246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23160" y="32461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/api/meta   (InfraBrain backend)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93592"/>
            <a:ext cx="1645920" cy="274320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35935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diff / rewrite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3593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3593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Task-agent prompt rewrite from KG patterns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3941064"/>
            <a:ext cx="1645920" cy="274320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9410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gate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03120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9410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infrabrain-eval   (120 live Gemini API calls)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1480" y="4288536"/>
            <a:ext cx="1645920" cy="274320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25" name="Text 23"/>
          <p:cNvSpPr/>
          <p:nvPr/>
        </p:nvSpPr>
        <p:spPr>
          <a:xfrm>
            <a:off x="411480" y="42885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regression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23160" y="42885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Gen-5 CRITICAL NOTE caught before deploy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15000" y="548640"/>
            <a:ext cx="3017520" cy="3931920"/>
          </a:xfrm>
          <a:prstGeom prst="rect">
            <a:avLst/>
          </a:prstGeom>
          <a:solidFill>
            <a:srgbClr val="131D30"/>
          </a:solidFill>
          <a:ln w="12700">
            <a:solidFill>
              <a:srgbClr val="475569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571500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Paper cover image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add here ]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715000" y="548640"/>
            <a:ext cx="3017520" cy="54864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31" name="Text 29"/>
          <p:cNvSpPr/>
          <p:nvPr/>
        </p:nvSpPr>
        <p:spPr>
          <a:xfrm>
            <a:off x="411480" y="4864608"/>
            <a:ext cx="8321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arxiv.org/abs/2503.19461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 ·  REAL RESULTS — 120 GEMINI API CALLS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 corrections work. The eval gate catches what doesn't.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188720"/>
          <a:ext cx="52120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05840" y="1325880"/>
            <a:ext cx="1554480" cy="402336"/>
          </a:xfrm>
          <a:prstGeom prst="rect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05840" y="13441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→ 5% override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single jump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4160520" y="2971800"/>
            <a:ext cx="1325880" cy="402336"/>
          </a:xfrm>
          <a:prstGeom prst="rect">
            <a:avLst/>
          </a:prstGeom>
          <a:solidFill>
            <a:srgbClr val="F87171">
              <a:alpha val="15000"/>
            </a:srgbClr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60520" y="29900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NOTE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backfired ↓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15000" y="1234440"/>
            <a:ext cx="292608" cy="292608"/>
          </a:xfrm>
          <a:prstGeom prst="ellipse">
            <a:avLst/>
          </a:prstGeom>
          <a:solidFill>
            <a:srgbClr val="34D399">
              <a:alpha val="2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5715000" y="1234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080760" y="12161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0→1: One KG correction cut override rate from 30% to 5% — the learning signal works immediately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15000" y="2194560"/>
            <a:ext cx="292608" cy="292608"/>
          </a:xfrm>
          <a:prstGeom prst="ellipse">
            <a:avLst/>
          </a:prstGeom>
          <a:solidFill>
            <a:srgbClr val="38BDF8">
              <a:alpha val="20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715000" y="2194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21762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4 is the best generation at 10% override — contradiction-check prompt is precise without over-steering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715000" y="3154680"/>
            <a:ext cx="292608" cy="292608"/>
          </a:xfrm>
          <a:prstGeom prst="ellipse">
            <a:avLst/>
          </a:prstGeom>
          <a:solidFill>
            <a:srgbClr val="F87171">
              <a:alpha val="20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5715000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080760" y="313639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5's CRITICAL NOTE backfired — over-steered the model on memory faults (25% override). Eval gate caught it before deployment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20040" y="4864608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= 0.40×accuracy + 0.25×MTTR + 0.20×override penalty + 0.15×safety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74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 ·  NOVEL CONTRIBUTIONS &amp; IMPACT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54864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novel contributions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98755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234440"/>
            <a:ext cx="64008" cy="98755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30759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78992" y="132588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KG-Grounded Memory &amp; Retrieval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78992" y="161848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corrections are indexed in a Knowledge Graph and retrieved at runtime — corrections ranked first. Unlike RAG over static docs, this KG is live: every override enriches it.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0" y="1847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et al. 2020 · Retrieval-Augmented Generation (Meta AI / NeurIPS)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11480" y="2331720"/>
            <a:ext cx="8321040" cy="98755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2331720"/>
            <a:ext cx="64008" cy="98755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13" name="Text 11"/>
          <p:cNvSpPr/>
          <p:nvPr/>
        </p:nvSpPr>
        <p:spPr>
          <a:xfrm>
            <a:off x="530352" y="240487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8992" y="242316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Meta-Agent Rewrites the Task Agent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78992" y="271576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meta-agent analyzes KG correction patterns and generates a code diff for the task agent. An eval gate (infrabrain-eval) runs 120 live API calls to validate — blocking regressions like gen-5's before they ship.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9443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Darwin Gödel Machine · arXiv 2503.19461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3429000"/>
            <a:ext cx="8321040" cy="987552"/>
          </a:xfrm>
          <a:prstGeom prst="rect">
            <a:avLst/>
          </a:prstGeom>
          <a:solidFill>
            <a:srgbClr val="131D30"/>
          </a:solidFill>
          <a:ln/>
        </p:spPr>
      </p:sp>
      <p:sp>
        <p:nvSpPr>
          <p:cNvPr id="18" name="Shape 16"/>
          <p:cNvSpPr/>
          <p:nvPr/>
        </p:nvSpPr>
        <p:spPr>
          <a:xfrm>
            <a:off x="411480" y="3429000"/>
            <a:ext cx="64008" cy="98755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50215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78992" y="352044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Pairs → Model Fine-Tuning Flywheel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078992" y="381304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override produces a (rejected, accepted) pair stored in SQLite. These pairs are training signal for DPO fine-tuning — directly improvable by model teams or used to fine-tune Gemma for GPU diagnostics.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Rafailov et al. 2023 · Direct Preference Optimization (Stanford / DPO)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4526280"/>
            <a:ext cx="8321040" cy="475488"/>
          </a:xfrm>
          <a:prstGeom prst="rect">
            <a:avLst/>
          </a:prstGeom>
          <a:solidFill>
            <a:srgbClr val="1A2640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Agents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0020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78892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Preference Data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97764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6636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Models (Gemma)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543800" y="45537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Agents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2026-07-21T04:53:22Z</dcterms:created>
  <dcterms:modified xsi:type="dcterms:W3CDTF">2026-07-21T04:53:22Z</dcterms:modified>
</cp:coreProperties>
</file>